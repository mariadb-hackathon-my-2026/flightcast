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FlightCast — self-auditing machine learning predictions, built on MariaDB temporal tables. By Low Yan Cheng, APU Malaysia, for the Innovation Track.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AI retrains every week. Each retrain overwrites the previous predictions. So three months later, when an auditor asks 'what did your model predict on January 15?', most companies cannot answer. The industry workaround is to bolt on three external services. FlightCast solves it inside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MariaDB has a feature called system-versioned tables. Five English-like words — FOR SYSTEM TIME AS OF a date — let you query any past state of any row. MySQL gives a syntax error. PostgreSQL needs an add-on. SQLite has nothing. MariaDB is the only mainstream database that ships this out of the box.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audit trail isn't a service we add later — it's structural. Every prediction is system-versioned at INSERT time. We layer a math result called MAPIE conformal prediction on top to guarantee 90% coverage. Two ideas combined: temporal SQL plus conformal math.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Drag the slider and the dashboard re-queries the database at that exact micro-second. Six committed model versions, all live, all queryable through one SQL statement. No log replay, no shadow tables, no external service.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committed model versions, each in a different colour, each with its own confidence band, all on one chart. Behind it: a single MariaDB query. In a normal MLflow setup you would issue six API calls and stitch them together in Python.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punchline. We trained six batches. The first four use normal noise — the world is calm. Batches five and six simulate a fuel-price shock, with much louder noise. Result: the first four hit 91.2% coverage, dead on target. The last two collapse to 58.7%. That is more than thirty percentage points off. The database itself caught it, with one SQL query,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90% coverage isn't marketing. It's a published theorem from 2005, used by major banks and insurance firms. We didn't invent it. We applied it on top of MariaDB so the math and the audit trail live in the same place.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layers. Notably absent from this diagram: MLflow, Weights and Biases, DataDog, Evidently. The forecasts table is system-versioned at INSERT time, so the audit trail is structural — not a service you bolt on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to the standard stack: external tracking server, replaced by atomic INSERT-time versioning. Custom drift dashboards, replaced by one SQL query. Replay infrastructure, replaced by FOR SYSTEM TIME. The moat is the math layer, not the slider.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FlightCast is MIT-licensed. Five reusable MariaDB-only SQL queries. Three open issues for the next contributor. The temporal-tables × conformal-prediction intersection is now public infrastructure for the MariaDB ecosystem.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watching. The repo is open, the whitepaper is in the repo, and the live demo runs locally with one Docker command. I'm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77440"/>
            <a:ext cx="10360152" cy="1463040"/>
          </a:xfrm>
          <a:prstGeom prst="rect">
            <a:avLst/>
          </a:prstGeom>
          <a:noFill/>
        </p:spPr>
        <p:txBody>
          <a:bodyPr wrap="square" anchor="t" lIns="0" rIns="0" tIns="0" bIns="0">
            <a:spAutoFit/>
          </a:bodyPr>
          <a:lstStyle/>
          <a:p>
            <a:pPr algn="ctr">
              <a:spcAft>
                <a:spcPts val="0"/>
              </a:spcAft>
            </a:pPr>
            <a:r>
              <a:rPr sz="9200" b="1" i="0">
                <a:solidFill>
                  <a:srgbClr val="F8FAFC"/>
                </a:solidFill>
                <a:latin typeface="Inter"/>
              </a:rPr>
              <a:t>FlightCast</a:t>
            </a:r>
          </a:p>
        </p:txBody>
      </p:sp>
      <p:sp>
        <p:nvSpPr>
          <p:cNvPr id="5" name="TextBox 4"/>
          <p:cNvSpPr txBox="1"/>
          <p:nvPr/>
        </p:nvSpPr>
        <p:spPr>
          <a:xfrm>
            <a:off x="914400" y="3749039"/>
            <a:ext cx="10360152" cy="640080"/>
          </a:xfrm>
          <a:prstGeom prst="rect">
            <a:avLst/>
          </a:prstGeom>
          <a:noFill/>
        </p:spPr>
        <p:txBody>
          <a:bodyPr wrap="square" anchor="t" lIns="0" rIns="0" tIns="0" bIns="0">
            <a:spAutoFit/>
          </a:bodyPr>
          <a:lstStyle/>
          <a:p>
            <a:pPr algn="ctr">
              <a:spcAft>
                <a:spcPts val="0"/>
              </a:spcAft>
            </a:pPr>
            <a:r>
              <a:rPr sz="2200" b="0" i="0">
                <a:solidFill>
                  <a:srgbClr val="C4B5FD"/>
                </a:solidFill>
                <a:latin typeface="Inter"/>
              </a:rPr>
              <a:t>Self-auditing ML predictions on MariaDB temporal tables</a:t>
            </a:r>
          </a:p>
        </p:txBody>
      </p:sp>
      <p:sp>
        <p:nvSpPr>
          <p:cNvPr id="6" name="TextBox 5"/>
          <p:cNvSpPr txBox="1"/>
          <p:nvPr/>
        </p:nvSpPr>
        <p:spPr>
          <a:xfrm>
            <a:off x="914400" y="5394960"/>
            <a:ext cx="10360152" cy="365760"/>
          </a:xfrm>
          <a:prstGeom prst="rect">
            <a:avLst/>
          </a:prstGeom>
          <a:noFill/>
        </p:spPr>
        <p:txBody>
          <a:bodyPr wrap="square" anchor="t" lIns="0" rIns="0" tIns="0" bIns="0">
            <a:spAutoFit/>
          </a:bodyPr>
          <a:lstStyle/>
          <a:p>
            <a:pPr algn="ctr">
              <a:spcAft>
                <a:spcPts val="0"/>
              </a:spcAft>
            </a:pPr>
            <a:r>
              <a:rPr sz="1500" b="0" i="0">
                <a:solidFill>
                  <a:srgbClr val="F8FAFC"/>
                </a:solidFill>
                <a:latin typeface="Inter"/>
              </a:rPr>
              <a:t>Low Yan Cheng  ·  TP070056  ·  APU Malaysia</a:t>
            </a:r>
          </a:p>
        </p:txBody>
      </p:sp>
      <p:sp>
        <p:nvSpPr>
          <p:cNvPr id="7" name="TextBox 6"/>
          <p:cNvSpPr txBox="1"/>
          <p:nvPr/>
        </p:nvSpPr>
        <p:spPr>
          <a:xfrm>
            <a:off x="914400" y="5806440"/>
            <a:ext cx="10360152" cy="365760"/>
          </a:xfrm>
          <a:prstGeom prst="rect">
            <a:avLst/>
          </a:prstGeom>
          <a:noFill/>
        </p:spPr>
        <p:txBody>
          <a:bodyPr wrap="square" anchor="t" lIns="0" rIns="0" tIns="0" bIns="0">
            <a:spAutoFit/>
          </a:bodyPr>
          <a:lstStyle/>
          <a:p>
            <a:pPr algn="ctr">
              <a:spcAft>
                <a:spcPts val="0"/>
              </a:spcAft>
            </a:pPr>
            <a:r>
              <a:rPr sz="1200" b="0" i="0">
                <a:solidFill>
                  <a:srgbClr val="64748B"/>
                </a:solidFill>
                <a:latin typeface="Inter"/>
              </a:rPr>
              <a:t>MariaDB Hackathon Malaysia 2026  ·  Innovation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F59E0B"/>
                </a:solidFill>
                <a:latin typeface="Inter"/>
              </a:rPr>
              <a:t>ACT 1  ·  THE PROBLEM</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What did your AI predict last month?</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Most ML systems can't answer that question.</a:t>
            </a:r>
          </a:p>
        </p:txBody>
      </p:sp>
      <p:sp>
        <p:nvSpPr>
          <p:cNvPr id="6" name="TextBox 5"/>
          <p:cNvSpPr txBox="1"/>
          <p:nvPr/>
        </p:nvSpPr>
        <p:spPr>
          <a:xfrm>
            <a:off x="640080" y="2926080"/>
            <a:ext cx="10972800" cy="3200400"/>
          </a:xfrm>
          <a:prstGeom prst="rect">
            <a:avLst/>
          </a:prstGeom>
          <a:noFill/>
        </p:spPr>
        <p:txBody>
          <a:bodyPr wrap="square" lIns="0" tIns="0">
            <a:spAutoFit/>
          </a:bodyPr>
          <a:lstStyle/>
          <a:p>
            <a:pPr algn="l">
              <a:spcAft>
                <a:spcPts val="1000"/>
              </a:spcAft>
            </a:pPr>
            <a:r>
              <a:rPr sz="2000">
                <a:solidFill>
                  <a:srgbClr val="F59E0B"/>
                </a:solidFill>
                <a:latin typeface="Inter"/>
              </a:rPr>
              <a:t>•  </a:t>
            </a:r>
            <a:r>
              <a:rPr sz="1600">
                <a:solidFill>
                  <a:srgbClr val="F8FAFC"/>
                </a:solidFill>
                <a:latin typeface="Inter"/>
              </a:rPr>
              <a:t>AI models retrain every week and overwrite yesterday's predictions.</a:t>
            </a:r>
          </a:p>
          <a:p>
            <a:pPr algn="l">
              <a:spcAft>
                <a:spcPts val="1000"/>
              </a:spcAft>
            </a:pPr>
            <a:r>
              <a:rPr sz="2000">
                <a:solidFill>
                  <a:srgbClr val="F59E0B"/>
                </a:solidFill>
                <a:latin typeface="Inter"/>
              </a:rPr>
              <a:t>•  </a:t>
            </a:r>
            <a:r>
              <a:rPr sz="1600">
                <a:solidFill>
                  <a:srgbClr val="F8FAFC"/>
                </a:solidFill>
                <a:latin typeface="Inter"/>
              </a:rPr>
              <a:t>When auditors, regulators, or post-mortems ask what the model said three months ago — most teams cannot answer.</a:t>
            </a:r>
          </a:p>
          <a:p>
            <a:pPr algn="l">
              <a:spcAft>
                <a:spcPts val="1000"/>
              </a:spcAft>
            </a:pPr>
            <a:r>
              <a:rPr sz="2000">
                <a:solidFill>
                  <a:srgbClr val="F59E0B"/>
                </a:solidFill>
                <a:latin typeface="Inter"/>
              </a:rPr>
              <a:t>•  </a:t>
            </a:r>
            <a:r>
              <a:rPr sz="1600">
                <a:solidFill>
                  <a:srgbClr val="F8FAFC"/>
                </a:solidFill>
                <a:latin typeface="Inter"/>
              </a:rPr>
              <a:t>The industry workaround bolts on MLflow + Weights &amp; Biases + a custom audit log. Three services. Fragile and expensive.</a:t>
            </a:r>
          </a:p>
          <a:p>
            <a:pPr algn="l">
              <a:spcAft>
                <a:spcPts val="1000"/>
              </a:spcAft>
            </a:pPr>
            <a:r>
              <a:rPr sz="2000">
                <a:solidFill>
                  <a:srgbClr val="F59E0B"/>
                </a:solidFill>
                <a:latin typeface="Inter"/>
              </a:rPr>
              <a:t>•  </a:t>
            </a:r>
            <a:r>
              <a:rPr sz="1600">
                <a:solidFill>
                  <a:srgbClr val="F8FAFC"/>
                </a:solidFill>
                <a:latin typeface="Inter"/>
              </a:rPr>
              <a:t>The audit gap is structural, not a tooling problem.</a:t>
            </a:r>
          </a:p>
        </p:txBody>
      </p:sp>
      <p:sp>
        <p:nvSpPr>
          <p:cNvPr id="7" name="TextBox 6"/>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8" name="TextBox 7"/>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1  ·  THE INSIGHT</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Five SQL keywords only MariaDB has.</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FOR  SYSTEM_TIME  AS  OF</a:t>
            </a:r>
          </a:p>
        </p:txBody>
      </p:sp>
      <p:sp>
        <p:nvSpPr>
          <p:cNvPr id="6" name="Rounded Rectangle 5"/>
          <p:cNvSpPr/>
          <p:nvPr/>
        </p:nvSpPr>
        <p:spPr>
          <a:xfrm>
            <a:off x="640080" y="2651760"/>
            <a:ext cx="10972800" cy="1005840"/>
          </a:xfrm>
          <a:prstGeom prst="roundRect">
            <a:avLst>
              <a:gd name="adj" fmla="val 15000"/>
            </a:avLst>
          </a:prstGeom>
          <a:solidFill>
            <a:srgbClr val="11182B"/>
          </a:solidFill>
          <a:ln w="952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365760" rIns="365760"/>
          <a:lstStyle/>
          <a:p>
            <a:pPr algn="ctr"/>
            <a:r>
              <a:rPr sz="2000">
                <a:solidFill>
                  <a:srgbClr val="C4B5FD"/>
                </a:solidFill>
                <a:latin typeface="Consolas"/>
              </a:rPr>
              <a:t>SELECT * FROM forecasts FOR SYSTEM_TIME AS OF '2026-01-15';</a:t>
            </a:r>
          </a:p>
        </p:txBody>
      </p:sp>
      <p:sp>
        <p:nvSpPr>
          <p:cNvPr id="7" name="Rounded Rectangle 6"/>
          <p:cNvSpPr/>
          <p:nvPr/>
        </p:nvSpPr>
        <p:spPr>
          <a:xfrm>
            <a:off x="640080" y="4206240"/>
            <a:ext cx="2560320" cy="502920"/>
          </a:xfrm>
          <a:prstGeom prst="roundRect">
            <a:avLst>
              <a:gd name="adj" fmla="val 50000"/>
            </a:avLst>
          </a:prstGeom>
          <a:solidFill>
            <a:srgbClr val="11182B"/>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164592" rIns="164592"/>
          <a:lstStyle/>
          <a:p>
            <a:pPr algn="ctr"/>
            <a:r>
              <a:rPr sz="1100" b="1">
                <a:solidFill>
                  <a:srgbClr val="34D399"/>
                </a:solidFill>
                <a:latin typeface="Inter"/>
              </a:rPr>
              <a:t>MariaDB 11.8  ✓ NATIVE</a:t>
            </a:r>
          </a:p>
        </p:txBody>
      </p:sp>
      <p:sp>
        <p:nvSpPr>
          <p:cNvPr id="8" name="Rounded Rectangle 7"/>
          <p:cNvSpPr/>
          <p:nvPr/>
        </p:nvSpPr>
        <p:spPr>
          <a:xfrm>
            <a:off x="3383280" y="4206240"/>
            <a:ext cx="2560320" cy="502920"/>
          </a:xfrm>
          <a:prstGeom prst="roundRect">
            <a:avLst>
              <a:gd name="adj" fmla="val 50000"/>
            </a:avLst>
          </a:prstGeom>
          <a:solidFill>
            <a:srgbClr val="11182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64592" rIns="164592"/>
          <a:lstStyle/>
          <a:p>
            <a:pPr algn="ctr"/>
            <a:r>
              <a:rPr sz="1100" b="1">
                <a:solidFill>
                  <a:srgbClr val="F59E0B"/>
                </a:solidFill>
                <a:latin typeface="Inter"/>
              </a:rPr>
              <a:t>MySQL  ✗ SYNTAX ERROR</a:t>
            </a:r>
          </a:p>
        </p:txBody>
      </p:sp>
      <p:sp>
        <p:nvSpPr>
          <p:cNvPr id="9" name="Rounded Rectangle 8"/>
          <p:cNvSpPr/>
          <p:nvPr/>
        </p:nvSpPr>
        <p:spPr>
          <a:xfrm>
            <a:off x="6126480" y="4206240"/>
            <a:ext cx="2560320" cy="502920"/>
          </a:xfrm>
          <a:prstGeom prst="roundRect">
            <a:avLst>
              <a:gd name="adj" fmla="val 50000"/>
            </a:avLst>
          </a:prstGeom>
          <a:solidFill>
            <a:srgbClr val="11182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64592" rIns="164592"/>
          <a:lstStyle/>
          <a:p>
            <a:pPr algn="ctr"/>
            <a:r>
              <a:rPr sz="1100" b="1">
                <a:solidFill>
                  <a:srgbClr val="F59E0B"/>
                </a:solidFill>
                <a:latin typeface="Inter"/>
              </a:rPr>
              <a:t>PostgreSQL  ⚠ EXTENSION</a:t>
            </a:r>
          </a:p>
        </p:txBody>
      </p:sp>
      <p:sp>
        <p:nvSpPr>
          <p:cNvPr id="10" name="Rounded Rectangle 9"/>
          <p:cNvSpPr/>
          <p:nvPr/>
        </p:nvSpPr>
        <p:spPr>
          <a:xfrm>
            <a:off x="8869680" y="4206240"/>
            <a:ext cx="2743200" cy="502920"/>
          </a:xfrm>
          <a:prstGeom prst="roundRect">
            <a:avLst>
              <a:gd name="adj" fmla="val 50000"/>
            </a:avLst>
          </a:prstGeom>
          <a:solidFill>
            <a:srgbClr val="11182B"/>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64592" rIns="164592"/>
          <a:lstStyle/>
          <a:p>
            <a:pPr algn="ctr"/>
            <a:r>
              <a:rPr sz="1100" b="1">
                <a:solidFill>
                  <a:srgbClr val="F59E0B"/>
                </a:solidFill>
                <a:latin typeface="Inter"/>
              </a:rPr>
              <a:t>SQLite  ✗ NOT SUPPORTED</a:t>
            </a:r>
          </a:p>
        </p:txBody>
      </p:sp>
      <p:sp>
        <p:nvSpPr>
          <p:cNvPr id="11" name="TextBox 10"/>
          <p:cNvSpPr txBox="1"/>
          <p:nvPr/>
        </p:nvSpPr>
        <p:spPr>
          <a:xfrm>
            <a:off x="640080" y="5074920"/>
            <a:ext cx="10972800" cy="1097280"/>
          </a:xfrm>
          <a:prstGeom prst="rect">
            <a:avLst/>
          </a:prstGeom>
          <a:noFill/>
        </p:spPr>
        <p:txBody>
          <a:bodyPr wrap="square" anchor="t" lIns="0" rIns="0" tIns="0" bIns="0">
            <a:spAutoFit/>
          </a:bodyPr>
          <a:lstStyle/>
          <a:p>
            <a:pPr algn="l">
              <a:spcAft>
                <a:spcPts val="0"/>
              </a:spcAft>
            </a:pPr>
            <a:r>
              <a:rPr sz="1600" b="0" i="0">
                <a:solidFill>
                  <a:srgbClr val="94A3B8"/>
                </a:solidFill>
                <a:latin typeface="Inter"/>
              </a:rPr>
              <a:t>MariaDB is the only mainstream database that ships system-versioned tables out of the box. One keyword unlocks the entire audit story.</a:t>
            </a:r>
          </a:p>
        </p:txBody>
      </p:sp>
      <p:sp>
        <p:nvSpPr>
          <p:cNvPr id="12" name="TextBox 11"/>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13" name="TextBox 12"/>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2  ·  THE SOLUTION</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The audit trail IS the database.</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Every prediction the model ever made — queryable forever.</a:t>
            </a:r>
          </a:p>
        </p:txBody>
      </p:sp>
      <p:pic>
        <p:nvPicPr>
          <p:cNvPr id="6" name="Picture 5" descr="Screenshot 2026-05-10 175117.png"/>
          <p:cNvPicPr>
            <a:picLocks noChangeAspect="1"/>
          </p:cNvPicPr>
          <p:nvPr/>
        </p:nvPicPr>
        <p:blipFill>
          <a:blip r:embed="rId2"/>
          <a:stretch>
            <a:fillRect/>
          </a:stretch>
        </p:blipFill>
        <p:spPr>
          <a:xfrm>
            <a:off x="640080" y="2606040"/>
            <a:ext cx="7772400" cy="3657600"/>
          </a:xfrm>
          <a:prstGeom prst="rect">
            <a:avLst/>
          </a:prstGeom>
        </p:spPr>
      </p:pic>
      <p:sp>
        <p:nvSpPr>
          <p:cNvPr id="7" name="TextBox 6"/>
          <p:cNvSpPr txBox="1"/>
          <p:nvPr/>
        </p:nvSpPr>
        <p:spPr>
          <a:xfrm>
            <a:off x="8686800" y="2651760"/>
            <a:ext cx="3108960" cy="3657600"/>
          </a:xfrm>
          <a:prstGeom prst="rect">
            <a:avLst/>
          </a:prstGeom>
          <a:noFill/>
        </p:spPr>
        <p:txBody>
          <a:bodyPr wrap="square" lIns="0" tIns="0">
            <a:spAutoFit/>
          </a:bodyPr>
          <a:lstStyle/>
          <a:p>
            <a:pPr algn="l">
              <a:spcAft>
                <a:spcPts val="1000"/>
              </a:spcAft>
            </a:pPr>
            <a:r>
              <a:rPr sz="1800">
                <a:solidFill>
                  <a:srgbClr val="8B5CF6"/>
                </a:solidFill>
                <a:latin typeface="Inter"/>
              </a:rPr>
              <a:t>•  </a:t>
            </a:r>
            <a:r>
              <a:rPr sz="1400">
                <a:solidFill>
                  <a:srgbClr val="F8FAFC"/>
                </a:solidFill>
                <a:latin typeface="Inter"/>
              </a:rPr>
              <a:t>No MLflow tracking server.</a:t>
            </a:r>
          </a:p>
          <a:p>
            <a:pPr algn="l">
              <a:spcAft>
                <a:spcPts val="1000"/>
              </a:spcAft>
            </a:pPr>
            <a:r>
              <a:rPr sz="1800">
                <a:solidFill>
                  <a:srgbClr val="8B5CF6"/>
                </a:solidFill>
                <a:latin typeface="Inter"/>
              </a:rPr>
              <a:t>•  </a:t>
            </a:r>
            <a:r>
              <a:rPr sz="1400">
                <a:solidFill>
                  <a:srgbClr val="F8FAFC"/>
                </a:solidFill>
                <a:latin typeface="Inter"/>
              </a:rPr>
              <a:t>No Weights &amp; Biases.</a:t>
            </a:r>
          </a:p>
          <a:p>
            <a:pPr algn="l">
              <a:spcAft>
                <a:spcPts val="1000"/>
              </a:spcAft>
            </a:pPr>
            <a:r>
              <a:rPr sz="1800">
                <a:solidFill>
                  <a:srgbClr val="8B5CF6"/>
                </a:solidFill>
                <a:latin typeface="Inter"/>
              </a:rPr>
              <a:t>•  </a:t>
            </a:r>
            <a:r>
              <a:rPr sz="1400">
                <a:solidFill>
                  <a:srgbClr val="F8FAFC"/>
                </a:solidFill>
                <a:latin typeface="Inter"/>
              </a:rPr>
              <a:t>No application audit log.</a:t>
            </a:r>
          </a:p>
          <a:p>
            <a:pPr algn="l">
              <a:spcAft>
                <a:spcPts val="1000"/>
              </a:spcAft>
            </a:pPr>
            <a:r>
              <a:rPr sz="1800">
                <a:solidFill>
                  <a:srgbClr val="8B5CF6"/>
                </a:solidFill>
                <a:latin typeface="Inter"/>
              </a:rPr>
              <a:t>•  </a:t>
            </a:r>
            <a:r>
              <a:rPr sz="1400">
                <a:solidFill>
                  <a:srgbClr val="F8FAFC"/>
                </a:solidFill>
                <a:latin typeface="Inter"/>
              </a:rPr>
              <a:t>Just MariaDB system-versioned tables + MAPIE conformal prediction.</a:t>
            </a:r>
          </a:p>
        </p:txBody>
      </p:sp>
      <p:sp>
        <p:nvSpPr>
          <p:cNvPr id="8" name="TextBox 7"/>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9" name="TextBox 8"/>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2  ·  DEMO  ·  TIME TRAVEL</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Drag the slider. Travel through model versions.</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Each tick is a real ROW_START timestamp from a committed transaction.</a:t>
            </a:r>
          </a:p>
        </p:txBody>
      </p:sp>
      <p:pic>
        <p:nvPicPr>
          <p:cNvPr id="6" name="Picture 5" descr="Screenshot 2026-05-10 175132.png"/>
          <p:cNvPicPr>
            <a:picLocks noChangeAspect="1"/>
          </p:cNvPicPr>
          <p:nvPr/>
        </p:nvPicPr>
        <p:blipFill>
          <a:blip r:embed="rId2"/>
          <a:stretch>
            <a:fillRect/>
          </a:stretch>
        </p:blipFill>
        <p:spPr>
          <a:xfrm>
            <a:off x="640080" y="2606040"/>
            <a:ext cx="7772400" cy="3657600"/>
          </a:xfrm>
          <a:prstGeom prst="rect">
            <a:avLst/>
          </a:prstGeom>
        </p:spPr>
      </p:pic>
      <p:sp>
        <p:nvSpPr>
          <p:cNvPr id="7" name="TextBox 6"/>
          <p:cNvSpPr txBox="1"/>
          <p:nvPr/>
        </p:nvSpPr>
        <p:spPr>
          <a:xfrm>
            <a:off x="8686800" y="2651760"/>
            <a:ext cx="3108960" cy="3657600"/>
          </a:xfrm>
          <a:prstGeom prst="rect">
            <a:avLst/>
          </a:prstGeom>
          <a:noFill/>
        </p:spPr>
        <p:txBody>
          <a:bodyPr wrap="square" lIns="0" tIns="0">
            <a:spAutoFit/>
          </a:bodyPr>
          <a:lstStyle/>
          <a:p>
            <a:pPr algn="l">
              <a:spcAft>
                <a:spcPts val="1000"/>
              </a:spcAft>
            </a:pPr>
            <a:r>
              <a:rPr sz="1800">
                <a:solidFill>
                  <a:srgbClr val="8B5CF6"/>
                </a:solidFill>
                <a:latin typeface="Inter"/>
              </a:rPr>
              <a:t>•  </a:t>
            </a:r>
            <a:r>
              <a:rPr sz="1400">
                <a:solidFill>
                  <a:srgbClr val="F8FAFC"/>
                </a:solidFill>
                <a:latin typeface="Inter"/>
              </a:rPr>
              <a:t>6 committed model versions live in MariaDB.</a:t>
            </a:r>
          </a:p>
          <a:p>
            <a:pPr algn="l">
              <a:spcAft>
                <a:spcPts val="1000"/>
              </a:spcAft>
            </a:pPr>
            <a:r>
              <a:rPr sz="1800">
                <a:solidFill>
                  <a:srgbClr val="8B5CF6"/>
                </a:solidFill>
                <a:latin typeface="Inter"/>
              </a:rPr>
              <a:t>•  </a:t>
            </a:r>
            <a:r>
              <a:rPr sz="1400">
                <a:solidFill>
                  <a:srgbClr val="F8FAFC"/>
                </a:solidFill>
                <a:latin typeface="Inter"/>
              </a:rPr>
              <a:t>Slider position = real database timestamp.</a:t>
            </a:r>
          </a:p>
          <a:p>
            <a:pPr algn="l">
              <a:spcAft>
                <a:spcPts val="1000"/>
              </a:spcAft>
            </a:pPr>
            <a:r>
              <a:rPr sz="1800">
                <a:solidFill>
                  <a:srgbClr val="8B5CF6"/>
                </a:solidFill>
                <a:latin typeface="Inter"/>
              </a:rPr>
              <a:t>•  </a:t>
            </a:r>
            <a:r>
              <a:rPr sz="1400">
                <a:solidFill>
                  <a:srgbClr val="F8FAFC"/>
                </a:solidFill>
                <a:latin typeface="Inter"/>
              </a:rPr>
              <a:t>Chart re-queries the database on every drag.</a:t>
            </a:r>
          </a:p>
          <a:p>
            <a:pPr algn="l">
              <a:spcAft>
                <a:spcPts val="1000"/>
              </a:spcAft>
            </a:pPr>
            <a:r>
              <a:rPr sz="1800">
                <a:solidFill>
                  <a:srgbClr val="8B5CF6"/>
                </a:solidFill>
                <a:latin typeface="Inter"/>
              </a:rPr>
              <a:t>•  </a:t>
            </a:r>
            <a:r>
              <a:rPr sz="1400">
                <a:solidFill>
                  <a:srgbClr val="F8FAFC"/>
                </a:solidFill>
                <a:latin typeface="Inter"/>
              </a:rPr>
              <a:t>Empirical coverage card jumps with the slider — calibrated vs drift in one number.</a:t>
            </a:r>
          </a:p>
        </p:txBody>
      </p:sp>
      <p:sp>
        <p:nvSpPr>
          <p:cNvPr id="8" name="TextBox 7"/>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9" name="TextBox 8"/>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2  ·  DEMO  ·  ALL HISTORY</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Six model versions, one SQL query.</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FOR  SYSTEM_TIME  ALL  returns every version of every row.</a:t>
            </a:r>
          </a:p>
        </p:txBody>
      </p:sp>
      <p:pic>
        <p:nvPicPr>
          <p:cNvPr id="6" name="Picture 5" descr="Screenshot 2026-05-10 175147.png"/>
          <p:cNvPicPr>
            <a:picLocks noChangeAspect="1"/>
          </p:cNvPicPr>
          <p:nvPr/>
        </p:nvPicPr>
        <p:blipFill>
          <a:blip r:embed="rId2"/>
          <a:stretch>
            <a:fillRect/>
          </a:stretch>
        </p:blipFill>
        <p:spPr>
          <a:xfrm>
            <a:off x="640080" y="2606040"/>
            <a:ext cx="7772400" cy="3657600"/>
          </a:xfrm>
          <a:prstGeom prst="rect">
            <a:avLst/>
          </a:prstGeom>
        </p:spPr>
      </p:pic>
      <p:sp>
        <p:nvSpPr>
          <p:cNvPr id="7" name="TextBox 6"/>
          <p:cNvSpPr txBox="1"/>
          <p:nvPr/>
        </p:nvSpPr>
        <p:spPr>
          <a:xfrm>
            <a:off x="8686800" y="2651760"/>
            <a:ext cx="3108960" cy="3657600"/>
          </a:xfrm>
          <a:prstGeom prst="rect">
            <a:avLst/>
          </a:prstGeom>
          <a:noFill/>
        </p:spPr>
        <p:txBody>
          <a:bodyPr wrap="square" lIns="0" tIns="0">
            <a:spAutoFit/>
          </a:bodyPr>
          <a:lstStyle/>
          <a:p>
            <a:pPr algn="l">
              <a:spcAft>
                <a:spcPts val="1000"/>
              </a:spcAft>
            </a:pPr>
            <a:r>
              <a:rPr sz="1800">
                <a:solidFill>
                  <a:srgbClr val="8B5CF6"/>
                </a:solidFill>
                <a:latin typeface="Inter"/>
              </a:rPr>
              <a:t>•  </a:t>
            </a:r>
            <a:r>
              <a:rPr sz="1400">
                <a:solidFill>
                  <a:srgbClr val="F8FAFC"/>
                </a:solidFill>
                <a:latin typeface="Inter"/>
              </a:rPr>
              <a:t>One query → 6 versions × 30 days = 180 rows.</a:t>
            </a:r>
          </a:p>
          <a:p>
            <a:pPr algn="l">
              <a:spcAft>
                <a:spcPts val="1000"/>
              </a:spcAft>
            </a:pPr>
            <a:r>
              <a:rPr sz="1800">
                <a:solidFill>
                  <a:srgbClr val="8B5CF6"/>
                </a:solidFill>
                <a:latin typeface="Inter"/>
              </a:rPr>
              <a:t>•  </a:t>
            </a:r>
            <a:r>
              <a:rPr sz="1400">
                <a:solidFill>
                  <a:srgbClr val="F8FAFC"/>
                </a:solidFill>
                <a:latin typeface="Inter"/>
              </a:rPr>
              <a:t>MLflow workflow: 6 separate API calls + Python join.</a:t>
            </a:r>
          </a:p>
          <a:p>
            <a:pPr algn="l">
              <a:spcAft>
                <a:spcPts val="1000"/>
              </a:spcAft>
            </a:pPr>
            <a:r>
              <a:rPr sz="1800">
                <a:solidFill>
                  <a:srgbClr val="8B5CF6"/>
                </a:solidFill>
                <a:latin typeface="Inter"/>
              </a:rPr>
              <a:t>•  </a:t>
            </a:r>
            <a:r>
              <a:rPr sz="1400">
                <a:solidFill>
                  <a:srgbClr val="F8FAFC"/>
                </a:solidFill>
                <a:latin typeface="Inter"/>
              </a:rPr>
              <a:t>Bands stacked tightly = healthy.</a:t>
            </a:r>
          </a:p>
          <a:p>
            <a:pPr algn="l">
              <a:spcAft>
                <a:spcPts val="1000"/>
              </a:spcAft>
            </a:pPr>
            <a:r>
              <a:rPr sz="1800">
                <a:solidFill>
                  <a:srgbClr val="8B5CF6"/>
                </a:solidFill>
                <a:latin typeface="Inter"/>
              </a:rPr>
              <a:t>•  </a:t>
            </a:r>
            <a:r>
              <a:rPr sz="1400">
                <a:solidFill>
                  <a:srgbClr val="F8FAFC"/>
                </a:solidFill>
                <a:latin typeface="Inter"/>
              </a:rPr>
              <a:t>Bands diverging = drift in real time.</a:t>
            </a:r>
          </a:p>
        </p:txBody>
      </p:sp>
      <p:sp>
        <p:nvSpPr>
          <p:cNvPr id="8" name="TextBox 7"/>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9" name="TextBox 8"/>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F59E0B"/>
                </a:solidFill>
                <a:latin typeface="Inter"/>
              </a:rPr>
              <a:t>ACT 2  ·  THE PUNCHLINE</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Drift caught by ONE SQL query.</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The database itself is the auditor.</a:t>
            </a:r>
          </a:p>
        </p:txBody>
      </p:sp>
      <p:pic>
        <p:nvPicPr>
          <p:cNvPr id="6" name="Picture 5" descr="Screenshot 2026-05-10 175158.png"/>
          <p:cNvPicPr>
            <a:picLocks noChangeAspect="1"/>
          </p:cNvPicPr>
          <p:nvPr/>
        </p:nvPicPr>
        <p:blipFill>
          <a:blip r:embed="rId2"/>
          <a:stretch>
            <a:fillRect/>
          </a:stretch>
        </p:blipFill>
        <p:spPr>
          <a:xfrm>
            <a:off x="640080" y="2743200"/>
            <a:ext cx="10972800" cy="1828800"/>
          </a:xfrm>
          <a:prstGeom prst="rect">
            <a:avLst/>
          </a:prstGeom>
        </p:spPr>
      </p:pic>
      <p:sp>
        <p:nvSpPr>
          <p:cNvPr id="7" name="TextBox 6"/>
          <p:cNvSpPr txBox="1"/>
          <p:nvPr/>
        </p:nvSpPr>
        <p:spPr>
          <a:xfrm>
            <a:off x="640080" y="4937760"/>
            <a:ext cx="10972800" cy="457200"/>
          </a:xfrm>
          <a:prstGeom prst="rect">
            <a:avLst/>
          </a:prstGeom>
          <a:noFill/>
        </p:spPr>
        <p:txBody>
          <a:bodyPr wrap="square" anchor="t" lIns="0" rIns="0" tIns="0" bIns="0">
            <a:spAutoFit/>
          </a:bodyPr>
          <a:lstStyle/>
          <a:p>
            <a:pPr algn="ctr">
              <a:spcAft>
                <a:spcPts val="0"/>
              </a:spcAft>
            </a:pPr>
            <a:r>
              <a:rPr sz="1400" b="0" i="0">
                <a:solidFill>
                  <a:srgbClr val="94A3B8"/>
                </a:solidFill>
                <a:latin typeface="Inter"/>
              </a:rPr>
              <a:t>One GROUP BY against FOR SYSTEM_TIME ALL.  No MLflow.  No tracking server.  No data engineer.</a:t>
            </a:r>
          </a:p>
        </p:txBody>
      </p:sp>
      <p:sp>
        <p:nvSpPr>
          <p:cNvPr id="8" name="TextBox 7"/>
          <p:cNvSpPr txBox="1"/>
          <p:nvPr/>
        </p:nvSpPr>
        <p:spPr>
          <a:xfrm>
            <a:off x="640080" y="5486400"/>
            <a:ext cx="3657600" cy="457200"/>
          </a:xfrm>
          <a:prstGeom prst="rect">
            <a:avLst/>
          </a:prstGeom>
          <a:noFill/>
        </p:spPr>
        <p:txBody>
          <a:bodyPr wrap="square" anchor="t" lIns="0" rIns="0" tIns="0" bIns="0">
            <a:spAutoFit/>
          </a:bodyPr>
          <a:lstStyle/>
          <a:p>
            <a:pPr algn="ctr">
              <a:spcAft>
                <a:spcPts val="0"/>
              </a:spcAft>
            </a:pPr>
            <a:r>
              <a:rPr sz="2400" b="1" i="0">
                <a:solidFill>
                  <a:srgbClr val="F59E0B"/>
                </a:solidFill>
                <a:latin typeface="Inter"/>
              </a:rPr>
              <a:t>30+ pp</a:t>
            </a:r>
          </a:p>
        </p:txBody>
      </p:sp>
      <p:sp>
        <p:nvSpPr>
          <p:cNvPr id="9" name="TextBox 8"/>
          <p:cNvSpPr txBox="1"/>
          <p:nvPr/>
        </p:nvSpPr>
        <p:spPr>
          <a:xfrm>
            <a:off x="640080" y="5943600"/>
            <a:ext cx="3657600" cy="365760"/>
          </a:xfrm>
          <a:prstGeom prst="rect">
            <a:avLst/>
          </a:prstGeom>
          <a:noFill/>
        </p:spPr>
        <p:txBody>
          <a:bodyPr wrap="square" anchor="t" lIns="0" rIns="0" tIns="0" bIns="0">
            <a:spAutoFit/>
          </a:bodyPr>
          <a:lstStyle/>
          <a:p>
            <a:pPr algn="ctr">
              <a:spcAft>
                <a:spcPts val="0"/>
              </a:spcAft>
            </a:pPr>
            <a:r>
              <a:rPr sz="1100" b="0" i="0">
                <a:solidFill>
                  <a:srgbClr val="94A3B8"/>
                </a:solidFill>
                <a:latin typeface="Inter"/>
              </a:rPr>
              <a:t>coverage drop</a:t>
            </a:r>
          </a:p>
        </p:txBody>
      </p:sp>
      <p:sp>
        <p:nvSpPr>
          <p:cNvPr id="10" name="TextBox 9"/>
          <p:cNvSpPr txBox="1"/>
          <p:nvPr/>
        </p:nvSpPr>
        <p:spPr>
          <a:xfrm>
            <a:off x="4297680" y="5486400"/>
            <a:ext cx="3657600" cy="457200"/>
          </a:xfrm>
          <a:prstGeom prst="rect">
            <a:avLst/>
          </a:prstGeom>
          <a:noFill/>
        </p:spPr>
        <p:txBody>
          <a:bodyPr wrap="square" anchor="t" lIns="0" rIns="0" tIns="0" bIns="0">
            <a:spAutoFit/>
          </a:bodyPr>
          <a:lstStyle/>
          <a:p>
            <a:pPr algn="ctr">
              <a:spcAft>
                <a:spcPts val="0"/>
              </a:spcAft>
            </a:pPr>
            <a:r>
              <a:rPr sz="2400" b="1" i="0">
                <a:solidFill>
                  <a:srgbClr val="F59E0B"/>
                </a:solidFill>
                <a:latin typeface="Inter"/>
              </a:rPr>
              <a:t>3.3 ×</a:t>
            </a:r>
          </a:p>
        </p:txBody>
      </p:sp>
      <p:sp>
        <p:nvSpPr>
          <p:cNvPr id="11" name="TextBox 10"/>
          <p:cNvSpPr txBox="1"/>
          <p:nvPr/>
        </p:nvSpPr>
        <p:spPr>
          <a:xfrm>
            <a:off x="4297680" y="5943600"/>
            <a:ext cx="3657600" cy="365760"/>
          </a:xfrm>
          <a:prstGeom prst="rect">
            <a:avLst/>
          </a:prstGeom>
          <a:noFill/>
        </p:spPr>
        <p:txBody>
          <a:bodyPr wrap="square" anchor="t" lIns="0" rIns="0" tIns="0" bIns="0">
            <a:spAutoFit/>
          </a:bodyPr>
          <a:lstStyle/>
          <a:p>
            <a:pPr algn="ctr">
              <a:spcAft>
                <a:spcPts val="0"/>
              </a:spcAft>
            </a:pPr>
            <a:r>
              <a:rPr sz="1100" b="0" i="0">
                <a:solidFill>
                  <a:srgbClr val="94A3B8"/>
                </a:solidFill>
                <a:latin typeface="Inter"/>
              </a:rPr>
              <a:t>Winkler escalation</a:t>
            </a:r>
          </a:p>
        </p:txBody>
      </p:sp>
      <p:sp>
        <p:nvSpPr>
          <p:cNvPr id="12" name="TextBox 11"/>
          <p:cNvSpPr txBox="1"/>
          <p:nvPr/>
        </p:nvSpPr>
        <p:spPr>
          <a:xfrm>
            <a:off x="7955279" y="5486400"/>
            <a:ext cx="3657600" cy="457200"/>
          </a:xfrm>
          <a:prstGeom prst="rect">
            <a:avLst/>
          </a:prstGeom>
          <a:noFill/>
        </p:spPr>
        <p:txBody>
          <a:bodyPr wrap="square" anchor="t" lIns="0" rIns="0" tIns="0" bIns="0">
            <a:spAutoFit/>
          </a:bodyPr>
          <a:lstStyle/>
          <a:p>
            <a:pPr algn="ctr">
              <a:spcAft>
                <a:spcPts val="0"/>
              </a:spcAft>
            </a:pPr>
            <a:r>
              <a:rPr sz="2400" b="1" i="0">
                <a:solidFill>
                  <a:srgbClr val="34D399"/>
                </a:solidFill>
                <a:latin typeface="Inter"/>
              </a:rPr>
              <a:t>1 query</a:t>
            </a:r>
          </a:p>
        </p:txBody>
      </p:sp>
      <p:sp>
        <p:nvSpPr>
          <p:cNvPr id="13" name="TextBox 12"/>
          <p:cNvSpPr txBox="1"/>
          <p:nvPr/>
        </p:nvSpPr>
        <p:spPr>
          <a:xfrm>
            <a:off x="7955279" y="5943600"/>
            <a:ext cx="3657600" cy="365760"/>
          </a:xfrm>
          <a:prstGeom prst="rect">
            <a:avLst/>
          </a:prstGeom>
          <a:noFill/>
        </p:spPr>
        <p:txBody>
          <a:bodyPr wrap="square" anchor="t" lIns="0" rIns="0" tIns="0" bIns="0">
            <a:spAutoFit/>
          </a:bodyPr>
          <a:lstStyle/>
          <a:p>
            <a:pPr algn="ctr">
              <a:spcAft>
                <a:spcPts val="0"/>
              </a:spcAft>
            </a:pPr>
            <a:r>
              <a:rPr sz="1100" b="0" i="0">
                <a:solidFill>
                  <a:srgbClr val="94A3B8"/>
                </a:solidFill>
                <a:latin typeface="Inter"/>
              </a:rPr>
              <a:t>to detect both</a:t>
            </a:r>
          </a:p>
        </p:txBody>
      </p:sp>
      <p:sp>
        <p:nvSpPr>
          <p:cNvPr id="14" name="TextBox 13"/>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15" name="TextBox 14"/>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3  ·  THE MATH LAYER</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A guarantee, not a claim.</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MAPIE conformal prediction — published 2005, peer-reviewed.</a:t>
            </a:r>
          </a:p>
        </p:txBody>
      </p:sp>
      <p:pic>
        <p:nvPicPr>
          <p:cNvPr id="6" name="Picture 5" descr="Screenshot 2026-05-10 175215.png"/>
          <p:cNvPicPr>
            <a:picLocks noChangeAspect="1"/>
          </p:cNvPicPr>
          <p:nvPr/>
        </p:nvPicPr>
        <p:blipFill>
          <a:blip r:embed="rId2"/>
          <a:stretch>
            <a:fillRect/>
          </a:stretch>
        </p:blipFill>
        <p:spPr>
          <a:xfrm>
            <a:off x="640080" y="2606040"/>
            <a:ext cx="7772400" cy="3200400"/>
          </a:xfrm>
          <a:prstGeom prst="rect">
            <a:avLst/>
          </a:prstGeom>
        </p:spPr>
      </p:pic>
      <p:sp>
        <p:nvSpPr>
          <p:cNvPr id="7" name="TextBox 6"/>
          <p:cNvSpPr txBox="1"/>
          <p:nvPr/>
        </p:nvSpPr>
        <p:spPr>
          <a:xfrm>
            <a:off x="8686800" y="2651760"/>
            <a:ext cx="3108960" cy="3657600"/>
          </a:xfrm>
          <a:prstGeom prst="rect">
            <a:avLst/>
          </a:prstGeom>
          <a:noFill/>
        </p:spPr>
        <p:txBody>
          <a:bodyPr wrap="square" lIns="0" tIns="0">
            <a:spAutoFit/>
          </a:bodyPr>
          <a:lstStyle/>
          <a:p>
            <a:pPr algn="l">
              <a:spcAft>
                <a:spcPts val="1000"/>
              </a:spcAft>
            </a:pPr>
            <a:r>
              <a:rPr sz="1800">
                <a:solidFill>
                  <a:srgbClr val="8B5CF6"/>
                </a:solidFill>
                <a:latin typeface="Inter"/>
              </a:rPr>
              <a:t>•  </a:t>
            </a:r>
            <a:r>
              <a:rPr sz="1400">
                <a:solidFill>
                  <a:srgbClr val="F8FAFC"/>
                </a:solidFill>
                <a:latin typeface="Inter"/>
              </a:rPr>
              <a:t>Vovk 2005, Lei 2018 — peer-reviewed coverage theorem.</a:t>
            </a:r>
          </a:p>
          <a:p>
            <a:pPr algn="l">
              <a:spcAft>
                <a:spcPts val="1000"/>
              </a:spcAft>
            </a:pPr>
            <a:r>
              <a:rPr sz="1800">
                <a:solidFill>
                  <a:srgbClr val="8B5CF6"/>
                </a:solidFill>
                <a:latin typeface="Inter"/>
              </a:rPr>
              <a:t>•  </a:t>
            </a:r>
            <a:r>
              <a:rPr sz="1400">
                <a:solidFill>
                  <a:srgbClr val="F8FAFC"/>
                </a:solidFill>
                <a:latin typeface="Inter"/>
              </a:rPr>
              <a:t>Used in finance, insurance, and clinical trials.</a:t>
            </a:r>
          </a:p>
          <a:p>
            <a:pPr algn="l">
              <a:spcAft>
                <a:spcPts val="1000"/>
              </a:spcAft>
            </a:pPr>
            <a:r>
              <a:rPr sz="1800">
                <a:solidFill>
                  <a:srgbClr val="8B5CF6"/>
                </a:solidFill>
                <a:latin typeface="Inter"/>
              </a:rPr>
              <a:t>•  </a:t>
            </a:r>
            <a:r>
              <a:rPr sz="1400">
                <a:solidFill>
                  <a:srgbClr val="F8FAFC"/>
                </a:solidFill>
                <a:latin typeface="Inter"/>
              </a:rPr>
              <a:t>We didn't invent it. We applied it on top of MariaDB so the math and the audit trail share one storage layer.</a:t>
            </a:r>
          </a:p>
        </p:txBody>
      </p:sp>
      <p:sp>
        <p:nvSpPr>
          <p:cNvPr id="8" name="TextBox 7"/>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9" name="TextBox 8"/>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3  ·  ARCHITECTURE</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Five layers. Zero external dependencies.</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The audit trail is structural, not bolted on.</a:t>
            </a:r>
          </a:p>
        </p:txBody>
      </p:sp>
      <p:pic>
        <p:nvPicPr>
          <p:cNvPr id="6" name="Picture 5" descr="architecture.png"/>
          <p:cNvPicPr>
            <a:picLocks noChangeAspect="1"/>
          </p:cNvPicPr>
          <p:nvPr/>
        </p:nvPicPr>
        <p:blipFill>
          <a:blip r:embed="rId2"/>
          <a:stretch>
            <a:fillRect/>
          </a:stretch>
        </p:blipFill>
        <p:spPr>
          <a:xfrm>
            <a:off x="1371600" y="2468880"/>
            <a:ext cx="9418320" cy="3657600"/>
          </a:xfrm>
          <a:prstGeom prst="rect">
            <a:avLst/>
          </a:prstGeom>
        </p:spPr>
      </p:pic>
      <p:sp>
        <p:nvSpPr>
          <p:cNvPr id="7" name="TextBox 6"/>
          <p:cNvSpPr txBox="1"/>
          <p:nvPr/>
        </p:nvSpPr>
        <p:spPr>
          <a:xfrm>
            <a:off x="640080" y="6080760"/>
            <a:ext cx="10972800" cy="365760"/>
          </a:xfrm>
          <a:prstGeom prst="rect">
            <a:avLst/>
          </a:prstGeom>
          <a:noFill/>
        </p:spPr>
        <p:txBody>
          <a:bodyPr wrap="square" anchor="t" lIns="0" rIns="0" tIns="0" bIns="0">
            <a:spAutoFit/>
          </a:bodyPr>
          <a:lstStyle/>
          <a:p>
            <a:pPr algn="ctr">
              <a:spcAft>
                <a:spcPts val="0"/>
              </a:spcAft>
            </a:pPr>
            <a:r>
              <a:rPr sz="1200" b="0" i="0">
                <a:solidFill>
                  <a:srgbClr val="64748B"/>
                </a:solidFill>
                <a:latin typeface="Inter"/>
              </a:rPr>
              <a:t>Notably absent:  MLflow  ·  Weights &amp; Biases  ·  DataDog  ·  Evidently AI</a:t>
            </a:r>
          </a:p>
        </p:txBody>
      </p:sp>
      <p:sp>
        <p:nvSpPr>
          <p:cNvPr id="8" name="TextBox 7"/>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9" name="TextBox 8"/>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C4B5FD"/>
                </a:solidFill>
                <a:latin typeface="Inter"/>
              </a:rPr>
              <a:t>ACT 3  ·  DIFFERENTIATION</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The moat is the math layer, not the slider.</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What FlightCast replaces in the standard MLOps stack.</a:t>
            </a:r>
          </a:p>
        </p:txBody>
      </p:sp>
      <p:pic>
        <p:nvPicPr>
          <p:cNvPr id="6" name="Picture 5" descr="Screenshot 2026-05-10 175052.png"/>
          <p:cNvPicPr>
            <a:picLocks noChangeAspect="1"/>
          </p:cNvPicPr>
          <p:nvPr/>
        </p:nvPicPr>
        <p:blipFill>
          <a:blip r:embed="rId2"/>
          <a:stretch>
            <a:fillRect/>
          </a:stretch>
        </p:blipFill>
        <p:spPr>
          <a:xfrm>
            <a:off x="640080" y="2606040"/>
            <a:ext cx="10972800" cy="3291840"/>
          </a:xfrm>
          <a:prstGeom prst="rect">
            <a:avLst/>
          </a:prstGeom>
        </p:spPr>
      </p:pic>
      <p:sp>
        <p:nvSpPr>
          <p:cNvPr id="7" name="TextBox 6"/>
          <p:cNvSpPr txBox="1"/>
          <p:nvPr/>
        </p:nvSpPr>
        <p:spPr>
          <a:xfrm>
            <a:off x="640080" y="5989320"/>
            <a:ext cx="10972800" cy="365760"/>
          </a:xfrm>
          <a:prstGeom prst="rect">
            <a:avLst/>
          </a:prstGeom>
          <a:noFill/>
        </p:spPr>
        <p:txBody>
          <a:bodyPr wrap="square" anchor="t" lIns="0" rIns="0" tIns="0" bIns="0">
            <a:spAutoFit/>
          </a:bodyPr>
          <a:lstStyle/>
          <a:p>
            <a:pPr algn="ctr">
              <a:spcAft>
                <a:spcPts val="0"/>
              </a:spcAft>
            </a:pPr>
            <a:r>
              <a:rPr sz="1400" b="0" i="1">
                <a:solidFill>
                  <a:srgbClr val="C4B5FD"/>
                </a:solidFill>
                <a:latin typeface="Inter"/>
              </a:rPr>
              <a:t>Every advantage on the right is a problem the database itself solved.</a:t>
            </a:r>
          </a:p>
        </p:txBody>
      </p:sp>
      <p:sp>
        <p:nvSpPr>
          <p:cNvPr id="8" name="TextBox 7"/>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9" name="TextBox 8"/>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34D399"/>
                </a:solidFill>
                <a:latin typeface="Inter"/>
              </a:rPr>
              <a:t>ACT 4  ·  OPEN INFRASTRUCTURE</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4200" b="1" i="0">
                <a:solidFill>
                  <a:srgbClr val="F8FAFC"/>
                </a:solidFill>
                <a:latin typeface="Inter"/>
              </a:rPr>
              <a:t>MIT-licensed.  Fork it.  Build on it.</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Public infrastructure for the MariaDB ecosystem.</a:t>
            </a:r>
          </a:p>
        </p:txBody>
      </p:sp>
      <p:sp>
        <p:nvSpPr>
          <p:cNvPr id="6" name="Rounded Rectangle 5"/>
          <p:cNvSpPr/>
          <p:nvPr/>
        </p:nvSpPr>
        <p:spPr>
          <a:xfrm>
            <a:off x="640080" y="2743200"/>
            <a:ext cx="3566160" cy="3108960"/>
          </a:xfrm>
          <a:prstGeom prst="roundRect">
            <a:avLst>
              <a:gd name="adj" fmla="val 5000"/>
            </a:avLst>
          </a:prstGeom>
          <a:solidFill>
            <a:srgbClr val="11182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l">
              <a:spcAft>
                <a:spcPts val="800"/>
              </a:spcAft>
            </a:pPr>
            <a:r>
              <a:rPr sz="2000" b="1">
                <a:solidFill>
                  <a:srgbClr val="8B5CF6"/>
                </a:solidFill>
                <a:latin typeface="Inter"/>
              </a:rPr>
              <a:t>5 hero SQL queries</a:t>
            </a:r>
          </a:p>
          <a:p>
            <a:pPr algn="l">
              <a:spcAft>
                <a:spcPts val="400"/>
              </a:spcAft>
            </a:pPr>
            <a:r>
              <a:rPr sz="1400">
                <a:solidFill>
                  <a:srgbClr val="F8FAFC"/>
                </a:solidFill>
                <a:latin typeface="Inter"/>
              </a:rPr>
              <a:t>All MariaDB-only.</a:t>
            </a:r>
          </a:p>
          <a:p>
            <a:pPr algn="l">
              <a:spcAft>
                <a:spcPts val="400"/>
              </a:spcAft>
            </a:pPr>
            <a:r>
              <a:rPr sz="1400">
                <a:solidFill>
                  <a:srgbClr val="F8FAFC"/>
                </a:solidFill>
                <a:latin typeface="Inter"/>
              </a:rPr>
              <a:t>None run on MySQL or PostgreSQL.</a:t>
            </a:r>
          </a:p>
          <a:p>
            <a:pPr algn="l">
              <a:spcAft>
                <a:spcPts val="400"/>
              </a:spcAft>
            </a:pPr>
            <a:r>
              <a:rPr sz="1400">
                <a:solidFill>
                  <a:srgbClr val="F8FAFC"/>
                </a:solidFill>
                <a:latin typeface="Inter"/>
              </a:rPr>
              <a:t>Reusable as-is.</a:t>
            </a:r>
          </a:p>
        </p:txBody>
      </p:sp>
      <p:sp>
        <p:nvSpPr>
          <p:cNvPr id="7" name="Rounded Rectangle 6"/>
          <p:cNvSpPr/>
          <p:nvPr/>
        </p:nvSpPr>
        <p:spPr>
          <a:xfrm>
            <a:off x="4434840" y="2743200"/>
            <a:ext cx="3566160" cy="3108960"/>
          </a:xfrm>
          <a:prstGeom prst="roundRect">
            <a:avLst>
              <a:gd name="adj" fmla="val 5000"/>
            </a:avLst>
          </a:prstGeom>
          <a:solidFill>
            <a:srgbClr val="11182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l">
              <a:spcAft>
                <a:spcPts val="800"/>
              </a:spcAft>
            </a:pPr>
            <a:r>
              <a:rPr sz="2000" b="1">
                <a:solidFill>
                  <a:srgbClr val="60A5FA"/>
                </a:solidFill>
                <a:latin typeface="Inter"/>
              </a:rPr>
              <a:t>3 open issues</a:t>
            </a:r>
          </a:p>
          <a:p>
            <a:pPr algn="l">
              <a:spcAft>
                <a:spcPts val="400"/>
              </a:spcAft>
            </a:pPr>
            <a:r>
              <a:rPr sz="1400">
                <a:solidFill>
                  <a:srgbClr val="F8FAFC"/>
                </a:solidFill>
                <a:latin typeface="Inter"/>
              </a:rPr>
              <a:t>Per-tier MAPIE recalibration.</a:t>
            </a:r>
          </a:p>
          <a:p>
            <a:pPr algn="l">
              <a:spcAft>
                <a:spcPts val="400"/>
              </a:spcAft>
            </a:pPr>
            <a:r>
              <a:rPr sz="1400">
                <a:solidFill>
                  <a:srgbClr val="F8FAFC"/>
                </a:solidFill>
                <a:latin typeface="Inter"/>
              </a:rPr>
              <a:t>Real-data prototypes.</a:t>
            </a:r>
          </a:p>
          <a:p>
            <a:pPr algn="l">
              <a:spcAft>
                <a:spcPts val="400"/>
              </a:spcAft>
            </a:pPr>
            <a:r>
              <a:rPr sz="1400">
                <a:solidFill>
                  <a:srgbClr val="F8FAFC"/>
                </a:solidFill>
                <a:latin typeface="Inter"/>
              </a:rPr>
              <a:t>Apache Airflow integration.</a:t>
            </a:r>
          </a:p>
        </p:txBody>
      </p:sp>
      <p:sp>
        <p:nvSpPr>
          <p:cNvPr id="8" name="Rounded Rectangle 7"/>
          <p:cNvSpPr/>
          <p:nvPr/>
        </p:nvSpPr>
        <p:spPr>
          <a:xfrm>
            <a:off x="8229600" y="2743200"/>
            <a:ext cx="3566160" cy="3108960"/>
          </a:xfrm>
          <a:prstGeom prst="roundRect">
            <a:avLst>
              <a:gd name="adj" fmla="val 5000"/>
            </a:avLst>
          </a:prstGeom>
          <a:solidFill>
            <a:srgbClr val="1118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l">
              <a:spcAft>
                <a:spcPts val="800"/>
              </a:spcAft>
            </a:pPr>
            <a:r>
              <a:rPr sz="2000" b="1">
                <a:solidFill>
                  <a:srgbClr val="F59E0B"/>
                </a:solidFill>
                <a:latin typeface="Inter"/>
              </a:rPr>
              <a:t>~6,300-word whitepaper</a:t>
            </a:r>
          </a:p>
          <a:p>
            <a:pPr algn="l">
              <a:spcAft>
                <a:spcPts val="400"/>
              </a:spcAft>
            </a:pPr>
            <a:r>
              <a:rPr sz="1400">
                <a:solidFill>
                  <a:srgbClr val="F8FAFC"/>
                </a:solidFill>
                <a:latin typeface="Inter"/>
              </a:rPr>
              <a:t>Elegant.md ships in the repo.</a:t>
            </a:r>
          </a:p>
          <a:p>
            <a:pPr algn="l">
              <a:spcAft>
                <a:spcPts val="400"/>
              </a:spcAft>
            </a:pPr>
            <a:r>
              <a:rPr sz="1400">
                <a:solidFill>
                  <a:srgbClr val="F8FAFC"/>
                </a:solidFill>
                <a:latin typeface="Inter"/>
              </a:rPr>
              <a:t>For stats-literate reviewers.</a:t>
            </a:r>
          </a:p>
          <a:p>
            <a:pPr algn="l">
              <a:spcAft>
                <a:spcPts val="400"/>
              </a:spcAft>
            </a:pPr>
            <a:r>
              <a:rPr sz="1400">
                <a:solidFill>
                  <a:srgbClr val="F8FAFC"/>
                </a:solidFill>
                <a:latin typeface="Inter"/>
              </a:rPr>
              <a:t>Includes the coverage proof.</a:t>
            </a:r>
          </a:p>
        </p:txBody>
      </p:sp>
      <p:sp>
        <p:nvSpPr>
          <p:cNvPr id="9" name="TextBox 8"/>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10" name="TextBox 9"/>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0152" cy="1097280"/>
          </a:xfrm>
          <a:prstGeom prst="rect">
            <a:avLst/>
          </a:prstGeom>
          <a:noFill/>
        </p:spPr>
        <p:txBody>
          <a:bodyPr wrap="square" anchor="t" lIns="0" rIns="0" tIns="0" bIns="0">
            <a:spAutoFit/>
          </a:bodyPr>
          <a:lstStyle/>
          <a:p>
            <a:pPr algn="ctr">
              <a:spcAft>
                <a:spcPts val="0"/>
              </a:spcAft>
            </a:pPr>
            <a:r>
              <a:rPr sz="6400" b="1" i="0">
                <a:solidFill>
                  <a:srgbClr val="F8FAFC"/>
                </a:solidFill>
                <a:latin typeface="Inter"/>
              </a:rPr>
              <a:t>Thank you.</a:t>
            </a:r>
          </a:p>
        </p:txBody>
      </p:sp>
      <p:sp>
        <p:nvSpPr>
          <p:cNvPr id="4" name="TextBox 3"/>
          <p:cNvSpPr txBox="1"/>
          <p:nvPr/>
        </p:nvSpPr>
        <p:spPr>
          <a:xfrm>
            <a:off x="914400" y="2468880"/>
            <a:ext cx="10360152" cy="457200"/>
          </a:xfrm>
          <a:prstGeom prst="rect">
            <a:avLst/>
          </a:prstGeom>
          <a:noFill/>
        </p:spPr>
        <p:txBody>
          <a:bodyPr wrap="square" anchor="t" lIns="0" rIns="0" tIns="0" bIns="0">
            <a:spAutoFit/>
          </a:bodyPr>
          <a:lstStyle/>
          <a:p>
            <a:pPr algn="ctr">
              <a:spcAft>
                <a:spcPts val="0"/>
              </a:spcAft>
            </a:pPr>
            <a:r>
              <a:rPr sz="1800" b="0" i="0">
                <a:solidFill>
                  <a:srgbClr val="C4B5FD"/>
                </a:solidFill>
                <a:latin typeface="Inter"/>
              </a:rPr>
              <a:t>Low Yan Cheng  ·  TP070056  ·  APU Malaysia</a:t>
            </a:r>
          </a:p>
        </p:txBody>
      </p:sp>
      <p:sp>
        <p:nvSpPr>
          <p:cNvPr id="5" name="TextBox 4"/>
          <p:cNvSpPr txBox="1"/>
          <p:nvPr/>
        </p:nvSpPr>
        <p:spPr>
          <a:xfrm>
            <a:off x="914400" y="3474720"/>
            <a:ext cx="10360152" cy="365760"/>
          </a:xfrm>
          <a:prstGeom prst="rect">
            <a:avLst/>
          </a:prstGeom>
          <a:noFill/>
        </p:spPr>
        <p:txBody>
          <a:bodyPr wrap="square" anchor="t" lIns="0" rIns="0" tIns="0" bIns="0">
            <a:spAutoFit/>
          </a:bodyPr>
          <a:lstStyle/>
          <a:p>
            <a:pPr algn="ctr">
              <a:spcAft>
                <a:spcPts val="0"/>
              </a:spcAft>
            </a:pPr>
            <a:r>
              <a:rPr sz="1800" b="0" i="0">
                <a:solidFill>
                  <a:srgbClr val="F8FAFC"/>
                </a:solidFill>
                <a:latin typeface="Inter"/>
              </a:rPr>
              <a:t>Live demo  →  github.com/imycc1221/flightcast</a:t>
            </a:r>
          </a:p>
        </p:txBody>
      </p:sp>
      <p:sp>
        <p:nvSpPr>
          <p:cNvPr id="6" name="TextBox 5"/>
          <p:cNvSpPr txBox="1"/>
          <p:nvPr/>
        </p:nvSpPr>
        <p:spPr>
          <a:xfrm>
            <a:off x="914400" y="3931920"/>
            <a:ext cx="10360152" cy="365760"/>
          </a:xfrm>
          <a:prstGeom prst="rect">
            <a:avLst/>
          </a:prstGeom>
          <a:noFill/>
        </p:spPr>
        <p:txBody>
          <a:bodyPr wrap="square" anchor="t" lIns="0" rIns="0" tIns="0" bIns="0">
            <a:spAutoFit/>
          </a:bodyPr>
          <a:lstStyle/>
          <a:p>
            <a:pPr algn="ctr">
              <a:spcAft>
                <a:spcPts val="0"/>
              </a:spcAft>
            </a:pPr>
            <a:r>
              <a:rPr sz="1800" b="0" i="0">
                <a:solidFill>
                  <a:srgbClr val="F8FAFC"/>
                </a:solidFill>
                <a:latin typeface="Inter"/>
              </a:rPr>
              <a:t>Hackathon submission  →  github.com/MariaDB-Hackathon-MY-2026/flightcast</a:t>
            </a:r>
          </a:p>
        </p:txBody>
      </p:sp>
      <p:sp>
        <p:nvSpPr>
          <p:cNvPr id="7" name="TextBox 6"/>
          <p:cNvSpPr txBox="1"/>
          <p:nvPr/>
        </p:nvSpPr>
        <p:spPr>
          <a:xfrm>
            <a:off x="914400" y="4389120"/>
            <a:ext cx="10360152" cy="365760"/>
          </a:xfrm>
          <a:prstGeom prst="rect">
            <a:avLst/>
          </a:prstGeom>
          <a:noFill/>
        </p:spPr>
        <p:txBody>
          <a:bodyPr wrap="square" anchor="t" lIns="0" rIns="0" tIns="0" bIns="0">
            <a:spAutoFit/>
          </a:bodyPr>
          <a:lstStyle/>
          <a:p>
            <a:pPr algn="ctr">
              <a:spcAft>
                <a:spcPts val="0"/>
              </a:spcAft>
            </a:pPr>
            <a:r>
              <a:rPr sz="1800" b="0" i="0">
                <a:solidFill>
                  <a:srgbClr val="F8FAFC"/>
                </a:solidFill>
                <a:latin typeface="Inter"/>
              </a:rPr>
              <a:t>Whitepaper  →  Elegant.md (in repo)</a:t>
            </a:r>
          </a:p>
        </p:txBody>
      </p:sp>
      <p:sp>
        <p:nvSpPr>
          <p:cNvPr id="8" name="TextBox 7"/>
          <p:cNvSpPr txBox="1"/>
          <p:nvPr/>
        </p:nvSpPr>
        <p:spPr>
          <a:xfrm>
            <a:off x="914400" y="4846320"/>
            <a:ext cx="10360152" cy="365760"/>
          </a:xfrm>
          <a:prstGeom prst="rect">
            <a:avLst/>
          </a:prstGeom>
          <a:noFill/>
        </p:spPr>
        <p:txBody>
          <a:bodyPr wrap="square" anchor="t" lIns="0" rIns="0" tIns="0" bIns="0">
            <a:spAutoFit/>
          </a:bodyPr>
          <a:lstStyle/>
          <a:p>
            <a:pPr algn="ctr">
              <a:spcAft>
                <a:spcPts val="0"/>
              </a:spcAft>
            </a:pPr>
            <a:r>
              <a:rPr sz="1800" b="0" i="0">
                <a:solidFill>
                  <a:srgbClr val="F8FAFC"/>
                </a:solidFill>
                <a:latin typeface="Inter"/>
              </a:rPr>
              <a:t>Judge guide  →  docs/JUDGES_TESTING_GUIDE.md  (4 time-budget options)</a:t>
            </a:r>
          </a:p>
        </p:txBody>
      </p:sp>
      <p:sp>
        <p:nvSpPr>
          <p:cNvPr id="9" name="TextBox 8"/>
          <p:cNvSpPr txBox="1"/>
          <p:nvPr/>
        </p:nvSpPr>
        <p:spPr>
          <a:xfrm>
            <a:off x="914400" y="6035040"/>
            <a:ext cx="10360152" cy="274320"/>
          </a:xfrm>
          <a:prstGeom prst="rect">
            <a:avLst/>
          </a:prstGeom>
          <a:noFill/>
        </p:spPr>
        <p:txBody>
          <a:bodyPr wrap="square" anchor="t" lIns="0" rIns="0" tIns="0" bIns="0">
            <a:spAutoFit/>
          </a:bodyPr>
          <a:lstStyle/>
          <a:p>
            <a:pPr algn="ctr">
              <a:spcAft>
                <a:spcPts val="0"/>
              </a:spcAft>
            </a:pPr>
            <a:r>
              <a:rPr sz="1400" b="0" i="1">
                <a:solidFill>
                  <a:srgbClr val="94A3B8"/>
                </a:solidFill>
                <a:latin typeface="Inter"/>
              </a:rPr>
              <a:t>Questions welcome.</a:t>
            </a:r>
          </a:p>
        </p:txBody>
      </p:sp>
      <p:sp>
        <p:nvSpPr>
          <p:cNvPr id="10" name="TextBox 9"/>
          <p:cNvSpPr txBox="1"/>
          <p:nvPr/>
        </p:nvSpPr>
        <p:spPr>
          <a:xfrm>
            <a:off x="457200" y="6446520"/>
            <a:ext cx="7315200" cy="274320"/>
          </a:xfrm>
          <a:prstGeom prst="rect">
            <a:avLst/>
          </a:prstGeom>
          <a:noFill/>
        </p:spPr>
        <p:txBody>
          <a:bodyPr wrap="square" anchor="t" lIns="0" rIns="0" tIns="0" bIns="0">
            <a:spAutoFit/>
          </a:bodyPr>
          <a:lstStyle/>
          <a:p>
            <a:pPr algn="l">
              <a:spcAft>
                <a:spcPts val="0"/>
              </a:spcAft>
            </a:pPr>
            <a:r>
              <a:rPr sz="1000" b="0" i="0">
                <a:solidFill>
                  <a:srgbClr val="64748B"/>
                </a:solidFill>
                <a:latin typeface="Inter"/>
              </a:rPr>
              <a:t>FlightCast  ·  MariaDB Hackathon Malaysia 2026  ·  Innovation Track</a:t>
            </a:r>
          </a:p>
        </p:txBody>
      </p:sp>
      <p:sp>
        <p:nvSpPr>
          <p:cNvPr id="11" name="TextBox 10"/>
          <p:cNvSpPr txBox="1"/>
          <p:nvPr/>
        </p:nvSpPr>
        <p:spPr>
          <a:xfrm>
            <a:off x="10607040" y="6446520"/>
            <a:ext cx="1097280" cy="274320"/>
          </a:xfrm>
          <a:prstGeom prst="rect">
            <a:avLst/>
          </a:prstGeom>
          <a:noFill/>
        </p:spPr>
        <p:txBody>
          <a:bodyPr wrap="square" anchor="t" lIns="0" rIns="0" tIns="0" bIns="0">
            <a:spAutoFit/>
          </a:bodyPr>
          <a:lstStyle/>
          <a:p>
            <a:pPr algn="r">
              <a:spcAft>
                <a:spcPts val="0"/>
              </a:spcAft>
            </a:pPr>
            <a:r>
              <a:rPr sz="1000" b="0" i="0">
                <a:solidFill>
                  <a:srgbClr val="64748B"/>
                </a:solidFill>
                <a:latin typeface="Inter"/>
              </a:rPr>
              <a:t>12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94A3B8"/>
                </a:solidFill>
                <a:latin typeface="Inter"/>
              </a:rPr>
              <a:t>BACKUP  ·  Q&amp;A</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3400" b="1" i="0">
                <a:solidFill>
                  <a:srgbClr val="F8FAFC"/>
                </a:solidFill>
                <a:latin typeface="Inter"/>
              </a:rPr>
              <a:t>How realistic is the synthetic demand?</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Tier-aware log-normal noise on real OpenFlights routes.</a:t>
            </a:r>
          </a:p>
        </p:txBody>
      </p:sp>
      <p:sp>
        <p:nvSpPr>
          <p:cNvPr id="6" name="TextBox 5"/>
          <p:cNvSpPr txBox="1"/>
          <p:nvPr/>
        </p:nvSpPr>
        <p:spPr>
          <a:xfrm>
            <a:off x="640080" y="2926080"/>
            <a:ext cx="10972800" cy="3200400"/>
          </a:xfrm>
          <a:prstGeom prst="rect">
            <a:avLst/>
          </a:prstGeom>
          <a:noFill/>
        </p:spPr>
        <p:txBody>
          <a:bodyPr wrap="square" lIns="0" tIns="0">
            <a:spAutoFit/>
          </a:bodyPr>
          <a:lstStyle/>
          <a:p>
            <a:pPr algn="l">
              <a:spcAft>
                <a:spcPts val="1000"/>
              </a:spcAft>
            </a:pPr>
            <a:r>
              <a:rPr sz="1900">
                <a:solidFill>
                  <a:srgbClr val="60A5FA"/>
                </a:solidFill>
                <a:latin typeface="Inter"/>
              </a:rPr>
              <a:t>•  </a:t>
            </a:r>
            <a:r>
              <a:rPr sz="1500">
                <a:solidFill>
                  <a:srgbClr val="F8FAFC"/>
                </a:solidFill>
                <a:latin typeface="Inter"/>
              </a:rPr>
              <a:t>Source: OpenFlights public dataset — 50 sampled real airline routes.</a:t>
            </a:r>
          </a:p>
          <a:p>
            <a:pPr algn="l">
              <a:spcAft>
                <a:spcPts val="1000"/>
              </a:spcAft>
            </a:pPr>
            <a:r>
              <a:rPr sz="1900">
                <a:solidFill>
                  <a:srgbClr val="60A5FA"/>
                </a:solidFill>
                <a:latin typeface="Inter"/>
              </a:rPr>
              <a:t>•  </a:t>
            </a:r>
            <a:r>
              <a:rPr sz="1500">
                <a:solidFill>
                  <a:srgbClr val="F8FAFC"/>
                </a:solidFill>
                <a:latin typeface="Inter"/>
              </a:rPr>
              <a:t>Three traffic tiers (hub / mid / thin) with different noise sigmas.</a:t>
            </a:r>
          </a:p>
          <a:p>
            <a:pPr algn="l">
              <a:spcAft>
                <a:spcPts val="1000"/>
              </a:spcAft>
            </a:pPr>
            <a:r>
              <a:rPr sz="1900">
                <a:solidFill>
                  <a:srgbClr val="60A5FA"/>
                </a:solidFill>
                <a:latin typeface="Inter"/>
              </a:rPr>
              <a:t>•  </a:t>
            </a:r>
            <a:r>
              <a:rPr sz="1500">
                <a:solidFill>
                  <a:srgbClr val="F8FAFC"/>
                </a:solidFill>
                <a:latin typeface="Inter"/>
              </a:rPr>
              <a:t>730 days × 50 routes = ~36,500 training rows, log-normal noise.</a:t>
            </a:r>
          </a:p>
          <a:p>
            <a:pPr algn="l">
              <a:spcAft>
                <a:spcPts val="1000"/>
              </a:spcAft>
            </a:pPr>
            <a:r>
              <a:rPr sz="1900">
                <a:solidFill>
                  <a:srgbClr val="60A5FA"/>
                </a:solidFill>
                <a:latin typeface="Inter"/>
              </a:rPr>
              <a:t>•  </a:t>
            </a:r>
            <a:r>
              <a:rPr sz="1500">
                <a:solidFill>
                  <a:srgbClr val="F8FAFC"/>
                </a:solidFill>
                <a:latin typeface="Inter"/>
              </a:rPr>
              <a:t>Drift simulation: σ = 0.10 → σ = 0.22 documented as reproducible recipe in src/flightcast/synth_demand.py.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94A3B8"/>
                </a:solidFill>
                <a:latin typeface="Inter"/>
              </a:rPr>
              <a:t>BACKUP  ·  Q&amp;A</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3400" b="1" i="0">
                <a:solidFill>
                  <a:srgbClr val="F8FAFC"/>
                </a:solidFill>
                <a:latin typeface="Inter"/>
              </a:rPr>
              <a:t>Will it scale?</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Performance benchmarks (FOR SYSTEM_TIME AS OF query latency).</a:t>
            </a:r>
          </a:p>
        </p:txBody>
      </p:sp>
      <p:sp>
        <p:nvSpPr>
          <p:cNvPr id="6" name="TextBox 5"/>
          <p:cNvSpPr txBox="1"/>
          <p:nvPr/>
        </p:nvSpPr>
        <p:spPr>
          <a:xfrm>
            <a:off x="640080" y="2926080"/>
            <a:ext cx="10972800" cy="3200400"/>
          </a:xfrm>
          <a:prstGeom prst="rect">
            <a:avLst/>
          </a:prstGeom>
          <a:noFill/>
        </p:spPr>
        <p:txBody>
          <a:bodyPr wrap="square" lIns="0" tIns="0">
            <a:spAutoFit/>
          </a:bodyPr>
          <a:lstStyle/>
          <a:p>
            <a:pPr algn="l">
              <a:spcAft>
                <a:spcPts val="1000"/>
              </a:spcAft>
            </a:pPr>
            <a:r>
              <a:rPr sz="1900">
                <a:solidFill>
                  <a:srgbClr val="60A5FA"/>
                </a:solidFill>
                <a:latin typeface="Inter"/>
              </a:rPr>
              <a:t>•  </a:t>
            </a:r>
            <a:r>
              <a:rPr sz="1500">
                <a:solidFill>
                  <a:srgbClr val="F8FAFC"/>
                </a:solidFill>
                <a:latin typeface="Inter"/>
              </a:rPr>
              <a:t>1 K rows: sub-millisecond temporal lookup.</a:t>
            </a:r>
          </a:p>
          <a:p>
            <a:pPr algn="l">
              <a:spcAft>
                <a:spcPts val="1000"/>
              </a:spcAft>
            </a:pPr>
            <a:r>
              <a:rPr sz="1900">
                <a:solidFill>
                  <a:srgbClr val="60A5FA"/>
                </a:solidFill>
                <a:latin typeface="Inter"/>
              </a:rPr>
              <a:t>•  </a:t>
            </a:r>
            <a:r>
              <a:rPr sz="1500">
                <a:solidFill>
                  <a:srgbClr val="F8FAFC"/>
                </a:solidFill>
                <a:latin typeface="Inter"/>
              </a:rPr>
              <a:t>10 K rows: ~3 ms.</a:t>
            </a:r>
          </a:p>
          <a:p>
            <a:pPr algn="l">
              <a:spcAft>
                <a:spcPts val="1000"/>
              </a:spcAft>
            </a:pPr>
            <a:r>
              <a:rPr sz="1900">
                <a:solidFill>
                  <a:srgbClr val="60A5FA"/>
                </a:solidFill>
                <a:latin typeface="Inter"/>
              </a:rPr>
              <a:t>•  </a:t>
            </a:r>
            <a:r>
              <a:rPr sz="1500">
                <a:solidFill>
                  <a:srgbClr val="F8FAFC"/>
                </a:solidFill>
                <a:latin typeface="Inter"/>
              </a:rPr>
              <a:t>100 K rows: ~25 ms (still under one frame).</a:t>
            </a:r>
          </a:p>
          <a:p>
            <a:pPr algn="l">
              <a:spcAft>
                <a:spcPts val="1000"/>
              </a:spcAft>
            </a:pPr>
            <a:r>
              <a:rPr sz="1900">
                <a:solidFill>
                  <a:srgbClr val="60A5FA"/>
                </a:solidFill>
                <a:latin typeface="Inter"/>
              </a:rPr>
              <a:t>•  </a:t>
            </a:r>
            <a:r>
              <a:rPr sz="1500">
                <a:solidFill>
                  <a:srgbClr val="F8FAFC"/>
                </a:solidFill>
                <a:latin typeface="Inter"/>
              </a:rPr>
              <a:t>Index strategy: idx_airports_iata yielded a 135× speedup on the route-sampling endpoint.</a:t>
            </a:r>
          </a:p>
          <a:p>
            <a:pPr algn="l">
              <a:spcAft>
                <a:spcPts val="1000"/>
              </a:spcAft>
            </a:pPr>
            <a:r>
              <a:rPr sz="1900">
                <a:solidFill>
                  <a:srgbClr val="60A5FA"/>
                </a:solidFill>
                <a:latin typeface="Inter"/>
              </a:rPr>
              <a:t>•  </a:t>
            </a:r>
            <a:r>
              <a:rPr sz="1500">
                <a:solidFill>
                  <a:srgbClr val="F8FAFC"/>
                </a:solidFill>
                <a:latin typeface="Inter"/>
              </a:rPr>
              <a:t>Connection pool (size 8) + HTTP cache headers eliminate the dashboard wedge.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320040"/>
          </a:xfrm>
          <a:prstGeom prst="rect">
            <a:avLst/>
          </a:prstGeom>
          <a:noFill/>
        </p:spPr>
        <p:txBody>
          <a:bodyPr wrap="square" anchor="t" lIns="0" rIns="0" tIns="0" bIns="0">
            <a:spAutoFit/>
          </a:bodyPr>
          <a:lstStyle/>
          <a:p>
            <a:pPr algn="l">
              <a:spcAft>
                <a:spcPts val="0"/>
              </a:spcAft>
            </a:pPr>
            <a:r>
              <a:rPr sz="1200" b="1" i="0">
                <a:solidFill>
                  <a:srgbClr val="94A3B8"/>
                </a:solidFill>
                <a:latin typeface="Inter"/>
              </a:rPr>
              <a:t>BACKUP  ·  Q&amp;A</a:t>
            </a:r>
          </a:p>
        </p:txBody>
      </p:sp>
      <p:sp>
        <p:nvSpPr>
          <p:cNvPr id="4" name="TextBox 3"/>
          <p:cNvSpPr txBox="1"/>
          <p:nvPr/>
        </p:nvSpPr>
        <p:spPr>
          <a:xfrm>
            <a:off x="640080" y="868680"/>
            <a:ext cx="10972800" cy="914400"/>
          </a:xfrm>
          <a:prstGeom prst="rect">
            <a:avLst/>
          </a:prstGeom>
          <a:noFill/>
        </p:spPr>
        <p:txBody>
          <a:bodyPr wrap="square" anchor="t" lIns="0" rIns="0" tIns="0" bIns="0">
            <a:spAutoFit/>
          </a:bodyPr>
          <a:lstStyle/>
          <a:p>
            <a:pPr algn="l">
              <a:spcAft>
                <a:spcPts val="0"/>
              </a:spcAft>
            </a:pPr>
            <a:r>
              <a:rPr sz="3400" b="1" i="0">
                <a:solidFill>
                  <a:srgbClr val="F8FAFC"/>
                </a:solidFill>
                <a:latin typeface="Inter"/>
              </a:rPr>
              <a:t>Show me the actual SQL.</a:t>
            </a:r>
          </a:p>
        </p:txBody>
      </p:sp>
      <p:sp>
        <p:nvSpPr>
          <p:cNvPr id="5" name="TextBox 4"/>
          <p:cNvSpPr txBox="1"/>
          <p:nvPr/>
        </p:nvSpPr>
        <p:spPr>
          <a:xfrm>
            <a:off x="640080" y="1783080"/>
            <a:ext cx="10972800" cy="548640"/>
          </a:xfrm>
          <a:prstGeom prst="rect">
            <a:avLst/>
          </a:prstGeom>
          <a:noFill/>
        </p:spPr>
        <p:txBody>
          <a:bodyPr wrap="square" anchor="t" lIns="0" rIns="0" tIns="0" bIns="0">
            <a:spAutoFit/>
          </a:bodyPr>
          <a:lstStyle/>
          <a:p>
            <a:pPr algn="l">
              <a:spcAft>
                <a:spcPts val="0"/>
              </a:spcAft>
            </a:pPr>
            <a:r>
              <a:rPr sz="1800" b="0" i="0">
                <a:solidFill>
                  <a:srgbClr val="94A3B8"/>
                </a:solidFill>
                <a:latin typeface="Inter"/>
              </a:rPr>
              <a:t>Five hero queries — every one fails on MySQL or PostgreSQL.</a:t>
            </a:r>
          </a:p>
        </p:txBody>
      </p:sp>
      <p:sp>
        <p:nvSpPr>
          <p:cNvPr id="6" name="TextBox 5"/>
          <p:cNvSpPr txBox="1"/>
          <p:nvPr/>
        </p:nvSpPr>
        <p:spPr>
          <a:xfrm>
            <a:off x="640080" y="2743200"/>
            <a:ext cx="10972800" cy="3657600"/>
          </a:xfrm>
          <a:prstGeom prst="rect">
            <a:avLst/>
          </a:prstGeom>
          <a:noFill/>
        </p:spPr>
        <p:txBody>
          <a:bodyPr wrap="square" lIns="0">
            <a:spAutoFit/>
          </a:bodyPr>
          <a:lstStyle/>
          <a:p>
            <a:pPr>
              <a:spcAft>
                <a:spcPts val="1000"/>
              </a:spcAft>
            </a:pPr>
            <a:r>
              <a:rPr sz="1600" b="1">
                <a:solidFill>
                  <a:srgbClr val="8B5CF6"/>
                </a:solidFill>
                <a:latin typeface="Inter"/>
              </a:rPr>
              <a:t>1.  Time travel  </a:t>
            </a:r>
            <a:r>
              <a:rPr sz="1400">
                <a:solidFill>
                  <a:srgbClr val="F8FAFC"/>
                </a:solidFill>
                <a:latin typeface="Inter"/>
              </a:rPr>
              <a:t>FOR SYSTEM_TIME AS OF a date — what did the model predict on this day?</a:t>
            </a:r>
          </a:p>
          <a:p>
            <a:pPr>
              <a:spcAft>
                <a:spcPts val="1000"/>
              </a:spcAft>
            </a:pPr>
            <a:r>
              <a:rPr sz="1600" b="1">
                <a:solidFill>
                  <a:srgbClr val="8B5CF6"/>
                </a:solidFill>
                <a:latin typeface="Inter"/>
              </a:rPr>
              <a:t>2.  Prediction diff  </a:t>
            </a:r>
            <a:r>
              <a:rPr sz="1400">
                <a:solidFill>
                  <a:srgbClr val="F8FAFC"/>
                </a:solidFill>
                <a:latin typeface="Inter"/>
              </a:rPr>
              <a:t>Two AS OF queries joined — how did forecasts change between v1 and v2?</a:t>
            </a:r>
          </a:p>
          <a:p>
            <a:pPr>
              <a:spcAft>
                <a:spcPts val="1000"/>
              </a:spcAft>
            </a:pPr>
            <a:r>
              <a:rPr sz="1600" b="1">
                <a:solidFill>
                  <a:srgbClr val="8B5CF6"/>
                </a:solidFill>
                <a:latin typeface="Inter"/>
              </a:rPr>
              <a:t>3.  Full audit log  </a:t>
            </a:r>
            <a:r>
              <a:rPr sz="1400">
                <a:solidFill>
                  <a:srgbClr val="F8FAFC"/>
                </a:solidFill>
                <a:latin typeface="Inter"/>
              </a:rPr>
              <a:t>FOR SYSTEM_TIME ALL — every version of every row, ever.</a:t>
            </a:r>
          </a:p>
          <a:p>
            <a:pPr>
              <a:spcAft>
                <a:spcPts val="1000"/>
              </a:spcAft>
            </a:pPr>
            <a:r>
              <a:rPr sz="1600" b="1">
                <a:solidFill>
                  <a:srgbClr val="8B5CF6"/>
                </a:solidFill>
                <a:latin typeface="Inter"/>
              </a:rPr>
              <a:t>4.  Calibration drift  </a:t>
            </a:r>
            <a:r>
              <a:rPr sz="1400">
                <a:solidFill>
                  <a:srgbClr val="F8FAFC"/>
                </a:solidFill>
                <a:latin typeface="Inter"/>
              </a:rPr>
              <a:t>GROUP BY forecast_run_id — which batches broke?</a:t>
            </a:r>
          </a:p>
          <a:p>
            <a:pPr>
              <a:spcAft>
                <a:spcPts val="1000"/>
              </a:spcAft>
            </a:pPr>
            <a:r>
              <a:rPr sz="1600" b="1">
                <a:solidFill>
                  <a:srgbClr val="8B5CF6"/>
                </a:solidFill>
                <a:latin typeface="Inter"/>
              </a:rPr>
              <a:t>5.  Great-circle distance  </a:t>
            </a:r>
            <a:r>
              <a:rPr sz="1400">
                <a:solidFill>
                  <a:srgbClr val="F8FAFC"/>
                </a:solidFill>
                <a:latin typeface="Inter"/>
              </a:rPr>
              <a:t>ST_DISTANCE_SPHERE — feature engineering inside the database.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